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367" r:id="rId2"/>
    <p:sldId id="368" r:id="rId3"/>
    <p:sldId id="370" r:id="rId4"/>
    <p:sldId id="371" r:id="rId5"/>
    <p:sldId id="372" r:id="rId6"/>
    <p:sldId id="373" r:id="rId7"/>
    <p:sldId id="374" r:id="rId8"/>
    <p:sldId id="375" r:id="rId9"/>
    <p:sldId id="37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0E28A8-724B-49C6-985F-895E635506CE}" type="datetimeFigureOut">
              <a:rPr lang="en-IN" smtClean="0"/>
              <a:t>30-01-2025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6FBF48-E09F-4D5C-83A6-177C15BEE008}" type="slidenum">
              <a:rPr lang="en-IN" smtClean="0"/>
              <a:t>‹#›</a:t>
            </a:fld>
            <a:endParaRPr lang="en-IN"/>
          </a:p>
        </p:txBody>
      </p:sp>
    </p:spTree>
    <p:extLst>
      <p:ext uri="{BB962C8B-B14F-4D97-AF65-F5344CB8AC3E}">
        <p14:creationId xmlns:p14="http://schemas.microsoft.com/office/powerpoint/2010/main" val="1768236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0" indent="0">
              <a:buNone/>
            </a:pPr>
            <a:r>
              <a:rPr lang="en-US" b="1" dirty="0"/>
              <a:t>Slides</a:t>
            </a:r>
            <a:r>
              <a:rPr lang="en-US" dirty="0"/>
              <a:t>: Prepare a short slide deck (10-12 slides) summarizing the project objectives, methodology, and key results.</a:t>
            </a:r>
            <a:endParaRPr lang="en-IN" dirty="0"/>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736936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B17EE-CAF1-83D0-A651-954B6E5EF2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07D8E5D-505A-DE32-3CC4-F900554E36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0625670-3A34-9A9D-8066-8BE22F59FF35}"/>
              </a:ext>
            </a:extLst>
          </p:cNvPr>
          <p:cNvSpPr>
            <a:spLocks noGrp="1"/>
          </p:cNvSpPr>
          <p:nvPr>
            <p:ph type="dt" sz="half" idx="10"/>
          </p:nvPr>
        </p:nvSpPr>
        <p:spPr/>
        <p:txBody>
          <a:bodyPr/>
          <a:lstStyle/>
          <a:p>
            <a:fld id="{1845660B-344E-41C6-ACC1-928777F64514}" type="datetimeFigureOut">
              <a:rPr lang="en-IN" smtClean="0"/>
              <a:t>30-01-2025</a:t>
            </a:fld>
            <a:endParaRPr lang="en-IN"/>
          </a:p>
        </p:txBody>
      </p:sp>
      <p:sp>
        <p:nvSpPr>
          <p:cNvPr id="5" name="Footer Placeholder 4">
            <a:extLst>
              <a:ext uri="{FF2B5EF4-FFF2-40B4-BE49-F238E27FC236}">
                <a16:creationId xmlns:a16="http://schemas.microsoft.com/office/drawing/2014/main" id="{0F56BB0E-1398-3050-9E15-FBAFB2819E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BF26C6-2D5B-13AB-CFA3-54A916BA56D6}"/>
              </a:ext>
            </a:extLst>
          </p:cNvPr>
          <p:cNvSpPr>
            <a:spLocks noGrp="1"/>
          </p:cNvSpPr>
          <p:nvPr>
            <p:ph type="sldNum" sz="quarter" idx="12"/>
          </p:nvPr>
        </p:nvSpPr>
        <p:spPr/>
        <p:txBody>
          <a:bodyPr/>
          <a:lstStyle/>
          <a:p>
            <a:fld id="{C4A32D18-2A89-4A52-BCAF-71E31E065AF7}" type="slidenum">
              <a:rPr lang="en-IN" smtClean="0"/>
              <a:t>‹#›</a:t>
            </a:fld>
            <a:endParaRPr lang="en-IN"/>
          </a:p>
        </p:txBody>
      </p:sp>
    </p:spTree>
    <p:extLst>
      <p:ext uri="{BB962C8B-B14F-4D97-AF65-F5344CB8AC3E}">
        <p14:creationId xmlns:p14="http://schemas.microsoft.com/office/powerpoint/2010/main" val="1813973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9778D-E6E3-B0E2-26AF-0065481E2E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2747C1-D2D3-A9E0-665C-EDE4C4AFCB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BDA925-8946-8FB7-A202-5A2D1B72E24B}"/>
              </a:ext>
            </a:extLst>
          </p:cNvPr>
          <p:cNvSpPr>
            <a:spLocks noGrp="1"/>
          </p:cNvSpPr>
          <p:nvPr>
            <p:ph type="dt" sz="half" idx="10"/>
          </p:nvPr>
        </p:nvSpPr>
        <p:spPr/>
        <p:txBody>
          <a:bodyPr/>
          <a:lstStyle/>
          <a:p>
            <a:fld id="{1845660B-344E-41C6-ACC1-928777F64514}" type="datetimeFigureOut">
              <a:rPr lang="en-IN" smtClean="0"/>
              <a:t>30-01-2025</a:t>
            </a:fld>
            <a:endParaRPr lang="en-IN"/>
          </a:p>
        </p:txBody>
      </p:sp>
      <p:sp>
        <p:nvSpPr>
          <p:cNvPr id="5" name="Footer Placeholder 4">
            <a:extLst>
              <a:ext uri="{FF2B5EF4-FFF2-40B4-BE49-F238E27FC236}">
                <a16:creationId xmlns:a16="http://schemas.microsoft.com/office/drawing/2014/main" id="{C3360D24-0AB6-A73D-5CD8-A166118B6A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042C8A-D257-989D-7192-972D19B00D36}"/>
              </a:ext>
            </a:extLst>
          </p:cNvPr>
          <p:cNvSpPr>
            <a:spLocks noGrp="1"/>
          </p:cNvSpPr>
          <p:nvPr>
            <p:ph type="sldNum" sz="quarter" idx="12"/>
          </p:nvPr>
        </p:nvSpPr>
        <p:spPr/>
        <p:txBody>
          <a:bodyPr/>
          <a:lstStyle/>
          <a:p>
            <a:fld id="{C4A32D18-2A89-4A52-BCAF-71E31E065AF7}" type="slidenum">
              <a:rPr lang="en-IN" smtClean="0"/>
              <a:t>‹#›</a:t>
            </a:fld>
            <a:endParaRPr lang="en-IN"/>
          </a:p>
        </p:txBody>
      </p:sp>
    </p:spTree>
    <p:extLst>
      <p:ext uri="{BB962C8B-B14F-4D97-AF65-F5344CB8AC3E}">
        <p14:creationId xmlns:p14="http://schemas.microsoft.com/office/powerpoint/2010/main" val="3340874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319B-1579-08CD-07A3-57A0540A5C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29CAE7A-BECD-C6AE-BF6E-A249F25D7E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E0F45F-F60D-13DD-2263-CDC7ABD4E9D2}"/>
              </a:ext>
            </a:extLst>
          </p:cNvPr>
          <p:cNvSpPr>
            <a:spLocks noGrp="1"/>
          </p:cNvSpPr>
          <p:nvPr>
            <p:ph type="dt" sz="half" idx="10"/>
          </p:nvPr>
        </p:nvSpPr>
        <p:spPr/>
        <p:txBody>
          <a:bodyPr/>
          <a:lstStyle/>
          <a:p>
            <a:fld id="{1845660B-344E-41C6-ACC1-928777F64514}" type="datetimeFigureOut">
              <a:rPr lang="en-IN" smtClean="0"/>
              <a:t>30-01-2025</a:t>
            </a:fld>
            <a:endParaRPr lang="en-IN"/>
          </a:p>
        </p:txBody>
      </p:sp>
      <p:sp>
        <p:nvSpPr>
          <p:cNvPr id="5" name="Footer Placeholder 4">
            <a:extLst>
              <a:ext uri="{FF2B5EF4-FFF2-40B4-BE49-F238E27FC236}">
                <a16:creationId xmlns:a16="http://schemas.microsoft.com/office/drawing/2014/main" id="{45E6FECD-CA88-DCB4-CCBE-F61B6700A5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987002-084E-5509-849E-D125BCAE9F1E}"/>
              </a:ext>
            </a:extLst>
          </p:cNvPr>
          <p:cNvSpPr>
            <a:spLocks noGrp="1"/>
          </p:cNvSpPr>
          <p:nvPr>
            <p:ph type="sldNum" sz="quarter" idx="12"/>
          </p:nvPr>
        </p:nvSpPr>
        <p:spPr/>
        <p:txBody>
          <a:bodyPr/>
          <a:lstStyle/>
          <a:p>
            <a:fld id="{C4A32D18-2A89-4A52-BCAF-71E31E065AF7}" type="slidenum">
              <a:rPr lang="en-IN" smtClean="0"/>
              <a:t>‹#›</a:t>
            </a:fld>
            <a:endParaRPr lang="en-IN"/>
          </a:p>
        </p:txBody>
      </p:sp>
    </p:spTree>
    <p:extLst>
      <p:ext uri="{BB962C8B-B14F-4D97-AF65-F5344CB8AC3E}">
        <p14:creationId xmlns:p14="http://schemas.microsoft.com/office/powerpoint/2010/main" val="636193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15FE5-ADF9-C7DC-9483-655858B73C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4D076DF-25FC-BBFE-A31E-071E0BBD9F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D13DC20-23B5-B3CB-F982-10CE8F51F5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7D21F96-0BAA-7C78-718C-F3BB7F1E92C4}"/>
              </a:ext>
            </a:extLst>
          </p:cNvPr>
          <p:cNvSpPr>
            <a:spLocks noGrp="1"/>
          </p:cNvSpPr>
          <p:nvPr>
            <p:ph type="dt" sz="half" idx="10"/>
          </p:nvPr>
        </p:nvSpPr>
        <p:spPr/>
        <p:txBody>
          <a:bodyPr/>
          <a:lstStyle/>
          <a:p>
            <a:fld id="{1845660B-344E-41C6-ACC1-928777F64514}" type="datetimeFigureOut">
              <a:rPr lang="en-IN" smtClean="0"/>
              <a:t>30-01-2025</a:t>
            </a:fld>
            <a:endParaRPr lang="en-IN"/>
          </a:p>
        </p:txBody>
      </p:sp>
      <p:sp>
        <p:nvSpPr>
          <p:cNvPr id="6" name="Footer Placeholder 5">
            <a:extLst>
              <a:ext uri="{FF2B5EF4-FFF2-40B4-BE49-F238E27FC236}">
                <a16:creationId xmlns:a16="http://schemas.microsoft.com/office/drawing/2014/main" id="{58261B21-B08A-4BB0-59B5-0C4BBEB9F2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AC61A4-201C-7B76-F062-9B4A2C718507}"/>
              </a:ext>
            </a:extLst>
          </p:cNvPr>
          <p:cNvSpPr>
            <a:spLocks noGrp="1"/>
          </p:cNvSpPr>
          <p:nvPr>
            <p:ph type="sldNum" sz="quarter" idx="12"/>
          </p:nvPr>
        </p:nvSpPr>
        <p:spPr/>
        <p:txBody>
          <a:bodyPr/>
          <a:lstStyle/>
          <a:p>
            <a:fld id="{C4A32D18-2A89-4A52-BCAF-71E31E065AF7}" type="slidenum">
              <a:rPr lang="en-IN" smtClean="0"/>
              <a:t>‹#›</a:t>
            </a:fld>
            <a:endParaRPr lang="en-IN"/>
          </a:p>
        </p:txBody>
      </p:sp>
    </p:spTree>
    <p:extLst>
      <p:ext uri="{BB962C8B-B14F-4D97-AF65-F5344CB8AC3E}">
        <p14:creationId xmlns:p14="http://schemas.microsoft.com/office/powerpoint/2010/main" val="2065292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740A5-8943-48B7-E0D2-38A0FC26E69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C8B124A-9658-43E3-39D1-CA94F210FA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C30E46-D3CF-F6A3-50C5-E731E5DFD1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CC83D4A-8151-6A65-3FCF-BB9946C44E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E78E2F-2191-A100-A834-2DD642CD93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6BF0E9A-0A9D-3C23-9B8B-89F25AF5A8E1}"/>
              </a:ext>
            </a:extLst>
          </p:cNvPr>
          <p:cNvSpPr>
            <a:spLocks noGrp="1"/>
          </p:cNvSpPr>
          <p:nvPr>
            <p:ph type="dt" sz="half" idx="10"/>
          </p:nvPr>
        </p:nvSpPr>
        <p:spPr/>
        <p:txBody>
          <a:bodyPr/>
          <a:lstStyle/>
          <a:p>
            <a:fld id="{1845660B-344E-41C6-ACC1-928777F64514}" type="datetimeFigureOut">
              <a:rPr lang="en-IN" smtClean="0"/>
              <a:t>30-01-2025</a:t>
            </a:fld>
            <a:endParaRPr lang="en-IN"/>
          </a:p>
        </p:txBody>
      </p:sp>
      <p:sp>
        <p:nvSpPr>
          <p:cNvPr id="8" name="Footer Placeholder 7">
            <a:extLst>
              <a:ext uri="{FF2B5EF4-FFF2-40B4-BE49-F238E27FC236}">
                <a16:creationId xmlns:a16="http://schemas.microsoft.com/office/drawing/2014/main" id="{51265D2E-2F2D-79E9-6F9B-15EFC299B07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3D9AF57-C132-B67C-4FBF-B413D5F5AD0E}"/>
              </a:ext>
            </a:extLst>
          </p:cNvPr>
          <p:cNvSpPr>
            <a:spLocks noGrp="1"/>
          </p:cNvSpPr>
          <p:nvPr>
            <p:ph type="sldNum" sz="quarter" idx="12"/>
          </p:nvPr>
        </p:nvSpPr>
        <p:spPr/>
        <p:txBody>
          <a:bodyPr/>
          <a:lstStyle/>
          <a:p>
            <a:fld id="{C4A32D18-2A89-4A52-BCAF-71E31E065AF7}" type="slidenum">
              <a:rPr lang="en-IN" smtClean="0"/>
              <a:t>‹#›</a:t>
            </a:fld>
            <a:endParaRPr lang="en-IN"/>
          </a:p>
        </p:txBody>
      </p:sp>
    </p:spTree>
    <p:extLst>
      <p:ext uri="{BB962C8B-B14F-4D97-AF65-F5344CB8AC3E}">
        <p14:creationId xmlns:p14="http://schemas.microsoft.com/office/powerpoint/2010/main" val="1426610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A11B6-02D0-F74C-4102-D98E7691E0F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CF03990-8281-19C7-C8D0-32F8DAEC8B90}"/>
              </a:ext>
            </a:extLst>
          </p:cNvPr>
          <p:cNvSpPr>
            <a:spLocks noGrp="1"/>
          </p:cNvSpPr>
          <p:nvPr>
            <p:ph type="dt" sz="half" idx="10"/>
          </p:nvPr>
        </p:nvSpPr>
        <p:spPr/>
        <p:txBody>
          <a:bodyPr/>
          <a:lstStyle/>
          <a:p>
            <a:fld id="{1845660B-344E-41C6-ACC1-928777F64514}" type="datetimeFigureOut">
              <a:rPr lang="en-IN" smtClean="0"/>
              <a:t>30-01-2025</a:t>
            </a:fld>
            <a:endParaRPr lang="en-IN"/>
          </a:p>
        </p:txBody>
      </p:sp>
      <p:sp>
        <p:nvSpPr>
          <p:cNvPr id="4" name="Footer Placeholder 3">
            <a:extLst>
              <a:ext uri="{FF2B5EF4-FFF2-40B4-BE49-F238E27FC236}">
                <a16:creationId xmlns:a16="http://schemas.microsoft.com/office/drawing/2014/main" id="{ABC708A4-DC8B-6614-4250-65F8CD3E5F0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D14FEF-0A8F-377E-0653-2DF38526C939}"/>
              </a:ext>
            </a:extLst>
          </p:cNvPr>
          <p:cNvSpPr>
            <a:spLocks noGrp="1"/>
          </p:cNvSpPr>
          <p:nvPr>
            <p:ph type="sldNum" sz="quarter" idx="12"/>
          </p:nvPr>
        </p:nvSpPr>
        <p:spPr/>
        <p:txBody>
          <a:bodyPr/>
          <a:lstStyle/>
          <a:p>
            <a:fld id="{C4A32D18-2A89-4A52-BCAF-71E31E065AF7}" type="slidenum">
              <a:rPr lang="en-IN" smtClean="0"/>
              <a:t>‹#›</a:t>
            </a:fld>
            <a:endParaRPr lang="en-IN"/>
          </a:p>
        </p:txBody>
      </p:sp>
    </p:spTree>
    <p:extLst>
      <p:ext uri="{BB962C8B-B14F-4D97-AF65-F5344CB8AC3E}">
        <p14:creationId xmlns:p14="http://schemas.microsoft.com/office/powerpoint/2010/main" val="2886331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40DB61-FD01-DBD9-4C69-AFCCB471F2A1}"/>
              </a:ext>
            </a:extLst>
          </p:cNvPr>
          <p:cNvSpPr>
            <a:spLocks noGrp="1"/>
          </p:cNvSpPr>
          <p:nvPr>
            <p:ph type="dt" sz="half" idx="10"/>
          </p:nvPr>
        </p:nvSpPr>
        <p:spPr/>
        <p:txBody>
          <a:bodyPr/>
          <a:lstStyle/>
          <a:p>
            <a:fld id="{1845660B-344E-41C6-ACC1-928777F64514}" type="datetimeFigureOut">
              <a:rPr lang="en-IN" smtClean="0"/>
              <a:t>30-01-2025</a:t>
            </a:fld>
            <a:endParaRPr lang="en-IN"/>
          </a:p>
        </p:txBody>
      </p:sp>
      <p:sp>
        <p:nvSpPr>
          <p:cNvPr id="3" name="Footer Placeholder 2">
            <a:extLst>
              <a:ext uri="{FF2B5EF4-FFF2-40B4-BE49-F238E27FC236}">
                <a16:creationId xmlns:a16="http://schemas.microsoft.com/office/drawing/2014/main" id="{6862572B-CF62-93B2-F9FD-23D44FC35E2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180AA8F-C42A-0315-9071-70672E0CBEFF}"/>
              </a:ext>
            </a:extLst>
          </p:cNvPr>
          <p:cNvSpPr>
            <a:spLocks noGrp="1"/>
          </p:cNvSpPr>
          <p:nvPr>
            <p:ph type="sldNum" sz="quarter" idx="12"/>
          </p:nvPr>
        </p:nvSpPr>
        <p:spPr/>
        <p:txBody>
          <a:bodyPr/>
          <a:lstStyle/>
          <a:p>
            <a:fld id="{C4A32D18-2A89-4A52-BCAF-71E31E065AF7}" type="slidenum">
              <a:rPr lang="en-IN" smtClean="0"/>
              <a:t>‹#›</a:t>
            </a:fld>
            <a:endParaRPr lang="en-IN"/>
          </a:p>
        </p:txBody>
      </p:sp>
    </p:spTree>
    <p:extLst>
      <p:ext uri="{BB962C8B-B14F-4D97-AF65-F5344CB8AC3E}">
        <p14:creationId xmlns:p14="http://schemas.microsoft.com/office/powerpoint/2010/main" val="4104384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DDAD9-9A55-72C8-DA13-5338CC319E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668D997-9509-BA19-0432-B35D73A7DA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885D755-C328-C369-9D69-D76278D7CA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1048A2-3224-8A12-5E62-A9FFD10E3F6F}"/>
              </a:ext>
            </a:extLst>
          </p:cNvPr>
          <p:cNvSpPr>
            <a:spLocks noGrp="1"/>
          </p:cNvSpPr>
          <p:nvPr>
            <p:ph type="dt" sz="half" idx="10"/>
          </p:nvPr>
        </p:nvSpPr>
        <p:spPr/>
        <p:txBody>
          <a:bodyPr/>
          <a:lstStyle/>
          <a:p>
            <a:fld id="{1845660B-344E-41C6-ACC1-928777F64514}" type="datetimeFigureOut">
              <a:rPr lang="en-IN" smtClean="0"/>
              <a:t>30-01-2025</a:t>
            </a:fld>
            <a:endParaRPr lang="en-IN"/>
          </a:p>
        </p:txBody>
      </p:sp>
      <p:sp>
        <p:nvSpPr>
          <p:cNvPr id="6" name="Footer Placeholder 5">
            <a:extLst>
              <a:ext uri="{FF2B5EF4-FFF2-40B4-BE49-F238E27FC236}">
                <a16:creationId xmlns:a16="http://schemas.microsoft.com/office/drawing/2014/main" id="{417F937A-85CE-1D26-A459-36590BBD71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C1E43E-8154-EDCB-68B0-166018659DCD}"/>
              </a:ext>
            </a:extLst>
          </p:cNvPr>
          <p:cNvSpPr>
            <a:spLocks noGrp="1"/>
          </p:cNvSpPr>
          <p:nvPr>
            <p:ph type="sldNum" sz="quarter" idx="12"/>
          </p:nvPr>
        </p:nvSpPr>
        <p:spPr/>
        <p:txBody>
          <a:bodyPr/>
          <a:lstStyle/>
          <a:p>
            <a:fld id="{C4A32D18-2A89-4A52-BCAF-71E31E065AF7}" type="slidenum">
              <a:rPr lang="en-IN" smtClean="0"/>
              <a:t>‹#›</a:t>
            </a:fld>
            <a:endParaRPr lang="en-IN"/>
          </a:p>
        </p:txBody>
      </p:sp>
    </p:spTree>
    <p:extLst>
      <p:ext uri="{BB962C8B-B14F-4D97-AF65-F5344CB8AC3E}">
        <p14:creationId xmlns:p14="http://schemas.microsoft.com/office/powerpoint/2010/main" val="1550418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6472C-94BB-3046-0EA9-1A482D53AF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6D8E3C0-1D69-6844-A5B7-E4E683CB7E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5F3C5FD-731F-E7AB-BCDD-2B955760F0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6BE8FE-42FF-FAB4-4FD4-03CC3EAD5DA3}"/>
              </a:ext>
            </a:extLst>
          </p:cNvPr>
          <p:cNvSpPr>
            <a:spLocks noGrp="1"/>
          </p:cNvSpPr>
          <p:nvPr>
            <p:ph type="dt" sz="half" idx="10"/>
          </p:nvPr>
        </p:nvSpPr>
        <p:spPr/>
        <p:txBody>
          <a:bodyPr/>
          <a:lstStyle/>
          <a:p>
            <a:fld id="{1845660B-344E-41C6-ACC1-928777F64514}" type="datetimeFigureOut">
              <a:rPr lang="en-IN" smtClean="0"/>
              <a:t>30-01-2025</a:t>
            </a:fld>
            <a:endParaRPr lang="en-IN"/>
          </a:p>
        </p:txBody>
      </p:sp>
      <p:sp>
        <p:nvSpPr>
          <p:cNvPr id="6" name="Footer Placeholder 5">
            <a:extLst>
              <a:ext uri="{FF2B5EF4-FFF2-40B4-BE49-F238E27FC236}">
                <a16:creationId xmlns:a16="http://schemas.microsoft.com/office/drawing/2014/main" id="{7045AD2B-8B2E-95E6-5B5D-DADD1B5D7E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FF07BAF-B6E7-7458-94FD-5CC64C3397F1}"/>
              </a:ext>
            </a:extLst>
          </p:cNvPr>
          <p:cNvSpPr>
            <a:spLocks noGrp="1"/>
          </p:cNvSpPr>
          <p:nvPr>
            <p:ph type="sldNum" sz="quarter" idx="12"/>
          </p:nvPr>
        </p:nvSpPr>
        <p:spPr/>
        <p:txBody>
          <a:bodyPr/>
          <a:lstStyle/>
          <a:p>
            <a:fld id="{C4A32D18-2A89-4A52-BCAF-71E31E065AF7}" type="slidenum">
              <a:rPr lang="en-IN" smtClean="0"/>
              <a:t>‹#›</a:t>
            </a:fld>
            <a:endParaRPr lang="en-IN"/>
          </a:p>
        </p:txBody>
      </p:sp>
    </p:spTree>
    <p:extLst>
      <p:ext uri="{BB962C8B-B14F-4D97-AF65-F5344CB8AC3E}">
        <p14:creationId xmlns:p14="http://schemas.microsoft.com/office/powerpoint/2010/main" val="981512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44AA0-541C-8F90-8044-143CFFB8B18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A218B59-B520-3B5F-8B86-BA51BCC846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DAB06C-FA96-7D42-B83D-3DF10FFD476A}"/>
              </a:ext>
            </a:extLst>
          </p:cNvPr>
          <p:cNvSpPr>
            <a:spLocks noGrp="1"/>
          </p:cNvSpPr>
          <p:nvPr>
            <p:ph type="dt" sz="half" idx="10"/>
          </p:nvPr>
        </p:nvSpPr>
        <p:spPr/>
        <p:txBody>
          <a:bodyPr/>
          <a:lstStyle/>
          <a:p>
            <a:fld id="{1845660B-344E-41C6-ACC1-928777F64514}" type="datetimeFigureOut">
              <a:rPr lang="en-IN" smtClean="0"/>
              <a:t>30-01-2025</a:t>
            </a:fld>
            <a:endParaRPr lang="en-IN"/>
          </a:p>
        </p:txBody>
      </p:sp>
      <p:sp>
        <p:nvSpPr>
          <p:cNvPr id="5" name="Footer Placeholder 4">
            <a:extLst>
              <a:ext uri="{FF2B5EF4-FFF2-40B4-BE49-F238E27FC236}">
                <a16:creationId xmlns:a16="http://schemas.microsoft.com/office/drawing/2014/main" id="{845D5352-8AD7-06DB-D45D-58D94E3622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1FDCF7-5583-B19E-3838-DC36C77B1DC4}"/>
              </a:ext>
            </a:extLst>
          </p:cNvPr>
          <p:cNvSpPr>
            <a:spLocks noGrp="1"/>
          </p:cNvSpPr>
          <p:nvPr>
            <p:ph type="sldNum" sz="quarter" idx="12"/>
          </p:nvPr>
        </p:nvSpPr>
        <p:spPr/>
        <p:txBody>
          <a:bodyPr/>
          <a:lstStyle/>
          <a:p>
            <a:fld id="{C4A32D18-2A89-4A52-BCAF-71E31E065AF7}" type="slidenum">
              <a:rPr lang="en-IN" smtClean="0"/>
              <a:t>‹#›</a:t>
            </a:fld>
            <a:endParaRPr lang="en-IN"/>
          </a:p>
        </p:txBody>
      </p:sp>
    </p:spTree>
    <p:extLst>
      <p:ext uri="{BB962C8B-B14F-4D97-AF65-F5344CB8AC3E}">
        <p14:creationId xmlns:p14="http://schemas.microsoft.com/office/powerpoint/2010/main" val="1999784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D9C104-6540-041D-9233-A372DE5E66A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C68BE18-EC5A-3840-C091-A2E8951823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B7225F-DEEB-4C42-DA70-53AD323C71C5}"/>
              </a:ext>
            </a:extLst>
          </p:cNvPr>
          <p:cNvSpPr>
            <a:spLocks noGrp="1"/>
          </p:cNvSpPr>
          <p:nvPr>
            <p:ph type="dt" sz="half" idx="10"/>
          </p:nvPr>
        </p:nvSpPr>
        <p:spPr/>
        <p:txBody>
          <a:bodyPr/>
          <a:lstStyle/>
          <a:p>
            <a:fld id="{1845660B-344E-41C6-ACC1-928777F64514}" type="datetimeFigureOut">
              <a:rPr lang="en-IN" smtClean="0"/>
              <a:t>30-01-2025</a:t>
            </a:fld>
            <a:endParaRPr lang="en-IN"/>
          </a:p>
        </p:txBody>
      </p:sp>
      <p:sp>
        <p:nvSpPr>
          <p:cNvPr id="5" name="Footer Placeholder 4">
            <a:extLst>
              <a:ext uri="{FF2B5EF4-FFF2-40B4-BE49-F238E27FC236}">
                <a16:creationId xmlns:a16="http://schemas.microsoft.com/office/drawing/2014/main" id="{C222F34B-99B2-5A73-B1D0-41184429AB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53B9D0-A532-457C-946E-E177D31182B6}"/>
              </a:ext>
            </a:extLst>
          </p:cNvPr>
          <p:cNvSpPr>
            <a:spLocks noGrp="1"/>
          </p:cNvSpPr>
          <p:nvPr>
            <p:ph type="sldNum" sz="quarter" idx="12"/>
          </p:nvPr>
        </p:nvSpPr>
        <p:spPr/>
        <p:txBody>
          <a:bodyPr/>
          <a:lstStyle/>
          <a:p>
            <a:fld id="{C4A32D18-2A89-4A52-BCAF-71E31E065AF7}" type="slidenum">
              <a:rPr lang="en-IN" smtClean="0"/>
              <a:t>‹#›</a:t>
            </a:fld>
            <a:endParaRPr lang="en-IN"/>
          </a:p>
        </p:txBody>
      </p:sp>
    </p:spTree>
    <p:extLst>
      <p:ext uri="{BB962C8B-B14F-4D97-AF65-F5344CB8AC3E}">
        <p14:creationId xmlns:p14="http://schemas.microsoft.com/office/powerpoint/2010/main" val="3874650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B97C44-9106-6E82-8399-3CFB8E7C35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7E16DF0-3F73-1DA8-DAEC-AE5EB297A5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561A8D-B091-CA0F-3DF8-609D522BDA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45660B-344E-41C6-ACC1-928777F64514}" type="datetimeFigureOut">
              <a:rPr lang="en-IN" smtClean="0"/>
              <a:t>30-01-2025</a:t>
            </a:fld>
            <a:endParaRPr lang="en-IN"/>
          </a:p>
        </p:txBody>
      </p:sp>
      <p:sp>
        <p:nvSpPr>
          <p:cNvPr id="5" name="Footer Placeholder 4">
            <a:extLst>
              <a:ext uri="{FF2B5EF4-FFF2-40B4-BE49-F238E27FC236}">
                <a16:creationId xmlns:a16="http://schemas.microsoft.com/office/drawing/2014/main" id="{6DC2CF1B-29F6-76C5-F726-7FF02DE732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292AF4D-779D-B347-A2E9-10526F52F0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A32D18-2A89-4A52-BCAF-71E31E065AF7}" type="slidenum">
              <a:rPr lang="en-IN" smtClean="0"/>
              <a:t>‹#›</a:t>
            </a:fld>
            <a:endParaRPr lang="en-IN"/>
          </a:p>
        </p:txBody>
      </p:sp>
    </p:spTree>
    <p:extLst>
      <p:ext uri="{BB962C8B-B14F-4D97-AF65-F5344CB8AC3E}">
        <p14:creationId xmlns:p14="http://schemas.microsoft.com/office/powerpoint/2010/main" val="31132241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guneeshd25@gmail.com" TargetMode="External"/><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5EB3E8-4D66-E74C-AA85-D6FA3DDF1FCB}"/>
              </a:ext>
            </a:extLst>
          </p:cNvPr>
          <p:cNvPicPr>
            <a:picLocks noChangeAspect="1"/>
          </p:cNvPicPr>
          <p:nvPr/>
        </p:nvPicPr>
        <p:blipFill>
          <a:blip r:embed="rId3"/>
          <a:stretch>
            <a:fillRect/>
          </a:stretch>
        </p:blipFill>
        <p:spPr>
          <a:xfrm>
            <a:off x="-1" y="-163285"/>
            <a:ext cx="12192000" cy="6858000"/>
          </a:xfrm>
          <a:prstGeom prst="rect">
            <a:avLst/>
          </a:prstGeom>
        </p:spPr>
      </p:pic>
      <p:sp>
        <p:nvSpPr>
          <p:cNvPr id="2" name="TextBox 1">
            <a:extLst>
              <a:ext uri="{FF2B5EF4-FFF2-40B4-BE49-F238E27FC236}">
                <a16:creationId xmlns:a16="http://schemas.microsoft.com/office/drawing/2014/main" id="{86E0006D-E6E5-1C29-48B1-80051C6B8CF6}"/>
              </a:ext>
            </a:extLst>
          </p:cNvPr>
          <p:cNvSpPr txBox="1"/>
          <p:nvPr/>
        </p:nvSpPr>
        <p:spPr>
          <a:xfrm>
            <a:off x="3312578" y="5958656"/>
            <a:ext cx="5566845" cy="338554"/>
          </a:xfrm>
          <a:prstGeom prst="rect">
            <a:avLst/>
          </a:prstGeom>
          <a:noFill/>
        </p:spPr>
        <p:txBody>
          <a:bodyPr wrap="none" rtlCol="0">
            <a:spAutoFit/>
          </a:bodyPr>
          <a:lstStyle/>
          <a:p>
            <a:pPr algn="ctr"/>
            <a:r>
              <a:rPr lang="en-US" sz="1600">
                <a:solidFill>
                  <a:schemeClr val="bg1"/>
                </a:solidFill>
              </a:rPr>
              <a:t>Disclaimer: The content is curated for educational purposes only.</a:t>
            </a:r>
          </a:p>
        </p:txBody>
      </p:sp>
      <p:sp>
        <p:nvSpPr>
          <p:cNvPr id="5" name="Rectangle: Rounded Corners 4">
            <a:extLst>
              <a:ext uri="{FF2B5EF4-FFF2-40B4-BE49-F238E27FC236}">
                <a16:creationId xmlns:a16="http://schemas.microsoft.com/office/drawing/2014/main" id="{1BFECF01-5B37-F500-F5BF-94F4716E2D91}"/>
              </a:ext>
            </a:extLst>
          </p:cNvPr>
          <p:cNvSpPr/>
          <p:nvPr/>
        </p:nvSpPr>
        <p:spPr>
          <a:xfrm>
            <a:off x="1496991" y="1822636"/>
            <a:ext cx="9198015" cy="4136020"/>
          </a:xfrm>
          <a:prstGeom prst="roundRect">
            <a:avLst>
              <a:gd name="adj" fmla="val 8142"/>
            </a:avLst>
          </a:prstGeom>
          <a:solidFill>
            <a:srgbClr val="E5EEFF"/>
          </a:solidFill>
          <a:ln>
            <a:solidFill>
              <a:srgbClr val="9BDB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US" sz="1867"/>
          </a:p>
        </p:txBody>
      </p:sp>
      <p:grpSp>
        <p:nvGrpSpPr>
          <p:cNvPr id="6" name="Group 5">
            <a:extLst>
              <a:ext uri="{FF2B5EF4-FFF2-40B4-BE49-F238E27FC236}">
                <a16:creationId xmlns:a16="http://schemas.microsoft.com/office/drawing/2014/main" id="{EBB721ED-22E4-6DB0-5857-C0300ED9B39A}"/>
              </a:ext>
            </a:extLst>
          </p:cNvPr>
          <p:cNvGrpSpPr/>
          <p:nvPr/>
        </p:nvGrpSpPr>
        <p:grpSpPr>
          <a:xfrm>
            <a:off x="2089684" y="1993843"/>
            <a:ext cx="8063216" cy="801379"/>
            <a:chOff x="1567263" y="1495382"/>
            <a:chExt cx="6047412" cy="601034"/>
          </a:xfrm>
        </p:grpSpPr>
        <p:pic>
          <p:nvPicPr>
            <p:cNvPr id="8" name="Google Shape;110;p4" descr="A close up of a sign&#10;&#10;Description automatically generated">
              <a:extLst>
                <a:ext uri="{FF2B5EF4-FFF2-40B4-BE49-F238E27FC236}">
                  <a16:creationId xmlns:a16="http://schemas.microsoft.com/office/drawing/2014/main" id="{C5DCF4E0-0C65-1FEB-0A76-8E20240537A0}"/>
                </a:ext>
              </a:extLst>
            </p:cNvPr>
            <p:cNvPicPr preferRelativeResize="0"/>
            <p:nvPr/>
          </p:nvPicPr>
          <p:blipFill rotWithShape="1">
            <a:blip r:embed="rId4">
              <a:alphaModFix/>
            </a:blip>
            <a:srcRect/>
            <a:stretch/>
          </p:blipFill>
          <p:spPr>
            <a:xfrm>
              <a:off x="4755974" y="1620847"/>
              <a:ext cx="1163978" cy="389110"/>
            </a:xfrm>
            <a:prstGeom prst="rect">
              <a:avLst/>
            </a:prstGeom>
            <a:noFill/>
            <a:ln>
              <a:noFill/>
            </a:ln>
          </p:spPr>
        </p:pic>
        <p:pic>
          <p:nvPicPr>
            <p:cNvPr id="11" name="Picture 10">
              <a:extLst>
                <a:ext uri="{FF2B5EF4-FFF2-40B4-BE49-F238E27FC236}">
                  <a16:creationId xmlns:a16="http://schemas.microsoft.com/office/drawing/2014/main" id="{4954FDD9-FF0B-C2F3-8CBA-8430CF9EF277}"/>
                </a:ext>
              </a:extLst>
            </p:cNvPr>
            <p:cNvPicPr>
              <a:picLocks noChangeAspect="1"/>
            </p:cNvPicPr>
            <p:nvPr/>
          </p:nvPicPr>
          <p:blipFill rotWithShape="1">
            <a:blip r:embed="rId5"/>
            <a:srcRect t="20552"/>
            <a:stretch/>
          </p:blipFill>
          <p:spPr>
            <a:xfrm>
              <a:off x="3675859" y="1608154"/>
              <a:ext cx="787775" cy="414497"/>
            </a:xfrm>
            <a:prstGeom prst="rect">
              <a:avLst/>
            </a:prstGeom>
          </p:spPr>
        </p:pic>
        <p:cxnSp>
          <p:nvCxnSpPr>
            <p:cNvPr id="15" name="Straight Connector 14">
              <a:extLst>
                <a:ext uri="{FF2B5EF4-FFF2-40B4-BE49-F238E27FC236}">
                  <a16:creationId xmlns:a16="http://schemas.microsoft.com/office/drawing/2014/main" id="{81703E3D-DC42-4972-13BC-75B3433F0AAC}"/>
                </a:ext>
              </a:extLst>
            </p:cNvPr>
            <p:cNvCxnSpPr>
              <a:cxnSpLocks/>
            </p:cNvCxnSpPr>
            <p:nvPr/>
          </p:nvCxnSpPr>
          <p:spPr>
            <a:xfrm>
              <a:off x="4609804" y="1534389"/>
              <a:ext cx="0" cy="562027"/>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2864786-7EB9-0435-2B7E-A519DAC0B2C3}"/>
                </a:ext>
              </a:extLst>
            </p:cNvPr>
            <p:cNvCxnSpPr>
              <a:cxnSpLocks/>
            </p:cNvCxnSpPr>
            <p:nvPr/>
          </p:nvCxnSpPr>
          <p:spPr>
            <a:xfrm>
              <a:off x="6066122" y="1534389"/>
              <a:ext cx="0" cy="562027"/>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20" name="Picture 19">
              <a:extLst>
                <a:ext uri="{FF2B5EF4-FFF2-40B4-BE49-F238E27FC236}">
                  <a16:creationId xmlns:a16="http://schemas.microsoft.com/office/drawing/2014/main" id="{4C1401D8-FA66-1261-CD90-51590003DB53}"/>
                </a:ext>
              </a:extLst>
            </p:cNvPr>
            <p:cNvPicPr/>
            <p:nvPr/>
          </p:nvPicPr>
          <p:blipFill>
            <a:blip r:embed="rId6"/>
            <a:stretch/>
          </p:blipFill>
          <p:spPr>
            <a:xfrm>
              <a:off x="6212294" y="1633695"/>
              <a:ext cx="1402381" cy="363414"/>
            </a:xfrm>
            <a:prstGeom prst="rect">
              <a:avLst/>
            </a:prstGeom>
            <a:ln w="0">
              <a:noFill/>
            </a:ln>
          </p:spPr>
        </p:pic>
        <p:cxnSp>
          <p:nvCxnSpPr>
            <p:cNvPr id="21" name="Straight Connector 20">
              <a:extLst>
                <a:ext uri="{FF2B5EF4-FFF2-40B4-BE49-F238E27FC236}">
                  <a16:creationId xmlns:a16="http://schemas.microsoft.com/office/drawing/2014/main" id="{A3B6D403-A251-4241-C8B1-03F239798137}"/>
                </a:ext>
              </a:extLst>
            </p:cNvPr>
            <p:cNvCxnSpPr>
              <a:cxnSpLocks/>
            </p:cNvCxnSpPr>
            <p:nvPr/>
          </p:nvCxnSpPr>
          <p:spPr>
            <a:xfrm>
              <a:off x="3529689" y="1534389"/>
              <a:ext cx="0" cy="562027"/>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22" name="Picture 21" descr="A blue and black text&#10;&#10;Description automatically generated">
              <a:extLst>
                <a:ext uri="{FF2B5EF4-FFF2-40B4-BE49-F238E27FC236}">
                  <a16:creationId xmlns:a16="http://schemas.microsoft.com/office/drawing/2014/main" id="{7EE3A363-7C08-0337-B159-84F504E87478}"/>
                </a:ext>
              </a:extLst>
            </p:cNvPr>
            <p:cNvPicPr>
              <a:picLocks noChangeAspect="1"/>
            </p:cNvPicPr>
            <p:nvPr/>
          </p:nvPicPr>
          <p:blipFill>
            <a:blip r:embed="rId7"/>
            <a:stretch>
              <a:fillRect/>
            </a:stretch>
          </p:blipFill>
          <p:spPr>
            <a:xfrm>
              <a:off x="1567263" y="1495382"/>
              <a:ext cx="1816256" cy="454064"/>
            </a:xfrm>
            <a:prstGeom prst="rect">
              <a:avLst/>
            </a:prstGeom>
          </p:spPr>
        </p:pic>
      </p:grpSp>
      <p:sp>
        <p:nvSpPr>
          <p:cNvPr id="7" name="TextBox 6">
            <a:extLst>
              <a:ext uri="{FF2B5EF4-FFF2-40B4-BE49-F238E27FC236}">
                <a16:creationId xmlns:a16="http://schemas.microsoft.com/office/drawing/2014/main" id="{5FD0626E-7FFA-F384-1DF5-056574800B20}"/>
              </a:ext>
            </a:extLst>
          </p:cNvPr>
          <p:cNvSpPr txBox="1"/>
          <p:nvPr/>
        </p:nvSpPr>
        <p:spPr>
          <a:xfrm>
            <a:off x="1749287" y="3083153"/>
            <a:ext cx="8693424" cy="4196085"/>
          </a:xfrm>
          <a:prstGeom prst="rect">
            <a:avLst/>
          </a:prstGeom>
          <a:noFill/>
        </p:spPr>
        <p:txBody>
          <a:bodyPr wrap="square">
            <a:spAutoFit/>
          </a:bodyPr>
          <a:lstStyle/>
          <a:p>
            <a:pPr algn="ctr"/>
            <a:r>
              <a:rPr lang="en-US" sz="3733" dirty="0"/>
              <a:t>SMART STUDENT PERFORMANCE MANAGEMENT SYSTEM</a:t>
            </a:r>
            <a:endParaRPr lang="en-US" sz="2400" dirty="0"/>
          </a:p>
          <a:p>
            <a:endParaRPr lang="en-US" sz="1867" dirty="0"/>
          </a:p>
          <a:p>
            <a:r>
              <a:rPr lang="en-US" sz="1867" dirty="0"/>
              <a:t>Member1  :-  </a:t>
            </a:r>
            <a:r>
              <a:rPr lang="en-US" sz="2000" dirty="0"/>
              <a:t>Name- </a:t>
            </a:r>
            <a:r>
              <a:rPr lang="en-US" sz="2000" dirty="0" err="1"/>
              <a:t>Guneesh</a:t>
            </a:r>
            <a:r>
              <a:rPr lang="en-US" sz="2000" dirty="0"/>
              <a:t> Dua </a:t>
            </a:r>
          </a:p>
          <a:p>
            <a:r>
              <a:rPr lang="en-US" sz="2000" dirty="0"/>
              <a:t>                       Email id – </a:t>
            </a:r>
            <a:r>
              <a:rPr lang="en-US" sz="2000" dirty="0">
                <a:hlinkClick r:id="rId8"/>
              </a:rPr>
              <a:t>guneeshd25@gmail.com</a:t>
            </a:r>
            <a:r>
              <a:rPr lang="en-US" sz="2000" dirty="0"/>
              <a:t> </a:t>
            </a:r>
          </a:p>
          <a:p>
            <a:r>
              <a:rPr lang="en-US" sz="1867" dirty="0"/>
              <a:t>Member2  </a:t>
            </a:r>
            <a:r>
              <a:rPr lang="en-US" sz="2000" dirty="0"/>
              <a:t>:-  Name-Pulkit Aggarwal</a:t>
            </a:r>
          </a:p>
          <a:p>
            <a:r>
              <a:rPr lang="en-US" sz="2000" dirty="0"/>
              <a:t>                       Email id - </a:t>
            </a:r>
            <a:r>
              <a:rPr lang="en-US" sz="1867" dirty="0"/>
              <a:t>		Guide:- Dr. Ankit </a:t>
            </a:r>
          </a:p>
          <a:p>
            <a:pPr algn="ctr"/>
            <a:endParaRPr lang="en-US" sz="2400" dirty="0"/>
          </a:p>
          <a:p>
            <a:pPr algn="ctr"/>
            <a:endParaRPr lang="en-US" sz="1867" dirty="0"/>
          </a:p>
          <a:p>
            <a:pPr algn="ctr"/>
            <a:endParaRPr lang="en-US" sz="2400" dirty="0"/>
          </a:p>
          <a:p>
            <a:pPr algn="ctr"/>
            <a:endParaRPr lang="en-US" sz="1867" dirty="0"/>
          </a:p>
        </p:txBody>
      </p:sp>
    </p:spTree>
    <p:extLst>
      <p:ext uri="{BB962C8B-B14F-4D97-AF65-F5344CB8AC3E}">
        <p14:creationId xmlns:p14="http://schemas.microsoft.com/office/powerpoint/2010/main" val="2370717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97ADC-BD32-9298-7996-3F3EA8DB0D04}"/>
              </a:ext>
            </a:extLst>
          </p:cNvPr>
          <p:cNvSpPr>
            <a:spLocks noGrp="1"/>
          </p:cNvSpPr>
          <p:nvPr>
            <p:ph type="title"/>
          </p:nvPr>
        </p:nvSpPr>
        <p:spPr/>
        <p:txBody>
          <a:bodyPr>
            <a:normAutofit/>
          </a:bodyPr>
          <a:lstStyle/>
          <a:p>
            <a:r>
              <a:rPr lang="en-US" sz="4000" b="1" u="sng" dirty="0"/>
              <a:t>1.Introduction</a:t>
            </a:r>
            <a:endParaRPr lang="en-IN" sz="4000" b="1" u="sng" dirty="0"/>
          </a:p>
        </p:txBody>
      </p:sp>
      <p:sp>
        <p:nvSpPr>
          <p:cNvPr id="3" name="Content Placeholder 2">
            <a:extLst>
              <a:ext uri="{FF2B5EF4-FFF2-40B4-BE49-F238E27FC236}">
                <a16:creationId xmlns:a16="http://schemas.microsoft.com/office/drawing/2014/main" id="{DD55AE1E-0880-991E-D891-74EF16C369E4}"/>
              </a:ext>
            </a:extLst>
          </p:cNvPr>
          <p:cNvSpPr>
            <a:spLocks noGrp="1"/>
          </p:cNvSpPr>
          <p:nvPr>
            <p:ph idx="1"/>
          </p:nvPr>
        </p:nvSpPr>
        <p:spPr/>
        <p:txBody>
          <a:bodyPr>
            <a:normAutofit/>
          </a:bodyPr>
          <a:lstStyle/>
          <a:p>
            <a:r>
              <a:rPr lang="en-US" sz="2400" dirty="0"/>
              <a:t>A smart student performance management system is needed to efficiently track and analyze student data, allowing educators to identify areas where students need extra support, personalize learning experiences, improve communication with parents, streamline administrative tasks, and ultimately make informed decisions to optimize student achievement, all while providing valuable insights through data-driven analysis.</a:t>
            </a:r>
          </a:p>
          <a:p>
            <a:r>
              <a:rPr lang="en-US" sz="2400" dirty="0"/>
              <a:t>The Smart Student Performance Management System (SSPMS) is an innovative, AI-driven solution designed to monitor, analyze, and enhance student performance in educational institutions. This system integrates advanced analytics, machine learning algorithms, and real-time data tracking to provide personalized insights into students’ academic progress.</a:t>
            </a:r>
          </a:p>
          <a:p>
            <a:endParaRPr lang="en-IN" sz="2400" dirty="0"/>
          </a:p>
        </p:txBody>
      </p:sp>
    </p:spTree>
    <p:extLst>
      <p:ext uri="{BB962C8B-B14F-4D97-AF65-F5344CB8AC3E}">
        <p14:creationId xmlns:p14="http://schemas.microsoft.com/office/powerpoint/2010/main" val="2187949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FC231-6887-7399-97E7-E22809D61587}"/>
              </a:ext>
            </a:extLst>
          </p:cNvPr>
          <p:cNvSpPr>
            <a:spLocks noGrp="1"/>
          </p:cNvSpPr>
          <p:nvPr>
            <p:ph type="title"/>
          </p:nvPr>
        </p:nvSpPr>
        <p:spPr/>
        <p:txBody>
          <a:bodyPr>
            <a:normAutofit/>
          </a:bodyPr>
          <a:lstStyle/>
          <a:p>
            <a:r>
              <a:rPr lang="en-US" sz="4000" b="1" u="sng" dirty="0"/>
              <a:t>2.Problem Statement and Proposed Solution</a:t>
            </a:r>
            <a:endParaRPr lang="en-IN" sz="4000" b="1" u="sng" dirty="0"/>
          </a:p>
        </p:txBody>
      </p:sp>
      <p:sp>
        <p:nvSpPr>
          <p:cNvPr id="3" name="Content Placeholder 2">
            <a:extLst>
              <a:ext uri="{FF2B5EF4-FFF2-40B4-BE49-F238E27FC236}">
                <a16:creationId xmlns:a16="http://schemas.microsoft.com/office/drawing/2014/main" id="{118C4B67-3E2D-D097-5AA8-7DC90D0925D4}"/>
              </a:ext>
            </a:extLst>
          </p:cNvPr>
          <p:cNvSpPr>
            <a:spLocks noGrp="1"/>
          </p:cNvSpPr>
          <p:nvPr>
            <p:ph sz="half" idx="1"/>
          </p:nvPr>
        </p:nvSpPr>
        <p:spPr/>
        <p:txBody>
          <a:bodyPr>
            <a:normAutofit/>
          </a:bodyPr>
          <a:lstStyle/>
          <a:p>
            <a:r>
              <a:rPr lang="en-US" sz="2000" dirty="0"/>
              <a:t>Educational institutions face challenges in tracking and analyzing student performance efficiently. Traditional methods of student assessment often lack real-time insights, making it difficult for educators to identify struggling students early. Additionally, manual tracking of academic progress and behavioral metrics is time-consuming and prone to errors. The lack of personalized learning strategies further hinders student engagement and academic improvement.</a:t>
            </a:r>
          </a:p>
          <a:p>
            <a:endParaRPr lang="en-IN" dirty="0"/>
          </a:p>
        </p:txBody>
      </p:sp>
      <p:sp>
        <p:nvSpPr>
          <p:cNvPr id="4" name="Content Placeholder 3">
            <a:extLst>
              <a:ext uri="{FF2B5EF4-FFF2-40B4-BE49-F238E27FC236}">
                <a16:creationId xmlns:a16="http://schemas.microsoft.com/office/drawing/2014/main" id="{17B5E472-93D0-B7A2-E856-0B2BF3A86480}"/>
              </a:ext>
            </a:extLst>
          </p:cNvPr>
          <p:cNvSpPr>
            <a:spLocks noGrp="1"/>
          </p:cNvSpPr>
          <p:nvPr>
            <p:ph sz="half" idx="2"/>
          </p:nvPr>
        </p:nvSpPr>
        <p:spPr/>
        <p:txBody>
          <a:bodyPr>
            <a:normAutofit/>
          </a:bodyPr>
          <a:lstStyle/>
          <a:p>
            <a:r>
              <a:rPr lang="en-US" sz="2000" dirty="0"/>
              <a:t>The Smart Student Performance Management System (SSPMS) leverages AI and data analytics to automate performance tracking and provide personalized learning recommendations. By integrating real-time monitoring, predictive analytics, and interactive dashboards, SSPMS helps educators identify learning gaps, offer timely interventions, and enhance student engagement. The system streamlines assessment processes, enables data-driven decision-making, and improves overall academic outcomes.</a:t>
            </a:r>
          </a:p>
          <a:p>
            <a:endParaRPr lang="en-IN" dirty="0"/>
          </a:p>
        </p:txBody>
      </p:sp>
    </p:spTree>
    <p:extLst>
      <p:ext uri="{BB962C8B-B14F-4D97-AF65-F5344CB8AC3E}">
        <p14:creationId xmlns:p14="http://schemas.microsoft.com/office/powerpoint/2010/main" val="153127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C02C0-5767-4294-CAB2-97D930313887}"/>
              </a:ext>
            </a:extLst>
          </p:cNvPr>
          <p:cNvSpPr>
            <a:spLocks noGrp="1"/>
          </p:cNvSpPr>
          <p:nvPr>
            <p:ph type="title"/>
          </p:nvPr>
        </p:nvSpPr>
        <p:spPr/>
        <p:txBody>
          <a:bodyPr>
            <a:normAutofit/>
          </a:bodyPr>
          <a:lstStyle/>
          <a:p>
            <a:r>
              <a:rPr lang="en-US" sz="4000" b="1" u="sng" dirty="0"/>
              <a:t>3.Objectives</a:t>
            </a:r>
            <a:endParaRPr lang="en-IN" sz="4000" b="1" u="sng" dirty="0"/>
          </a:p>
        </p:txBody>
      </p:sp>
      <p:sp>
        <p:nvSpPr>
          <p:cNvPr id="3" name="Content Placeholder 2">
            <a:extLst>
              <a:ext uri="{FF2B5EF4-FFF2-40B4-BE49-F238E27FC236}">
                <a16:creationId xmlns:a16="http://schemas.microsoft.com/office/drawing/2014/main" id="{B1DA92B2-C61F-6585-1137-5837528DB9ED}"/>
              </a:ext>
            </a:extLst>
          </p:cNvPr>
          <p:cNvSpPr>
            <a:spLocks noGrp="1"/>
          </p:cNvSpPr>
          <p:nvPr>
            <p:ph idx="1"/>
          </p:nvPr>
        </p:nvSpPr>
        <p:spPr/>
        <p:txBody>
          <a:bodyPr/>
          <a:lstStyle/>
          <a:p>
            <a:pPr>
              <a:buFont typeface="Arial" panose="020B0604020202020204" pitchFamily="34" charset="0"/>
              <a:buChar char="•"/>
            </a:pPr>
            <a:r>
              <a:rPr lang="en-US" sz="2000" dirty="0"/>
              <a:t>To automate student performance tracking and assessment.</a:t>
            </a:r>
          </a:p>
          <a:p>
            <a:pPr>
              <a:buFont typeface="Arial" panose="020B0604020202020204" pitchFamily="34" charset="0"/>
              <a:buChar char="•"/>
            </a:pPr>
            <a:r>
              <a:rPr lang="en-US" sz="2000" dirty="0"/>
              <a:t>To provide educators with predictive analytics for personalized student guidance.</a:t>
            </a:r>
          </a:p>
          <a:p>
            <a:pPr>
              <a:buFont typeface="Arial" panose="020B0604020202020204" pitchFamily="34" charset="0"/>
              <a:buChar char="•"/>
            </a:pPr>
            <a:r>
              <a:rPr lang="en-US" sz="2000" dirty="0"/>
              <a:t>To identify areas of improvement and strengths for each student.</a:t>
            </a:r>
          </a:p>
          <a:p>
            <a:pPr>
              <a:buFont typeface="Arial" panose="020B0604020202020204" pitchFamily="34" charset="0"/>
              <a:buChar char="•"/>
            </a:pPr>
            <a:r>
              <a:rPr lang="en-US" sz="2000" dirty="0"/>
              <a:t>To facilitate data-driven decision-making in education.</a:t>
            </a:r>
          </a:p>
          <a:p>
            <a:pPr>
              <a:buFont typeface="Arial" panose="020B0604020202020204" pitchFamily="34" charset="0"/>
              <a:buChar char="•"/>
            </a:pPr>
            <a:r>
              <a:rPr lang="en-US" sz="2000" dirty="0"/>
              <a:t>To enhance engagement through AI-based recommendations and feedback.</a:t>
            </a:r>
          </a:p>
          <a:p>
            <a:endParaRPr lang="en-IN" dirty="0"/>
          </a:p>
        </p:txBody>
      </p:sp>
    </p:spTree>
    <p:extLst>
      <p:ext uri="{BB962C8B-B14F-4D97-AF65-F5344CB8AC3E}">
        <p14:creationId xmlns:p14="http://schemas.microsoft.com/office/powerpoint/2010/main" val="2106836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5E227-9851-C35D-2137-3F37B606CB9F}"/>
              </a:ext>
            </a:extLst>
          </p:cNvPr>
          <p:cNvSpPr>
            <a:spLocks noGrp="1"/>
          </p:cNvSpPr>
          <p:nvPr>
            <p:ph type="title"/>
          </p:nvPr>
        </p:nvSpPr>
        <p:spPr/>
        <p:txBody>
          <a:bodyPr>
            <a:normAutofit/>
          </a:bodyPr>
          <a:lstStyle/>
          <a:p>
            <a:r>
              <a:rPr lang="en-US" sz="4000" b="1" u="sng" dirty="0"/>
              <a:t>4.System Features</a:t>
            </a:r>
            <a:endParaRPr lang="en-IN" sz="4000" b="1" u="sng" dirty="0"/>
          </a:p>
        </p:txBody>
      </p:sp>
      <p:sp>
        <p:nvSpPr>
          <p:cNvPr id="3" name="Content Placeholder 2">
            <a:extLst>
              <a:ext uri="{FF2B5EF4-FFF2-40B4-BE49-F238E27FC236}">
                <a16:creationId xmlns:a16="http://schemas.microsoft.com/office/drawing/2014/main" id="{FFE4B221-C457-F9E3-2555-596FD7C47586}"/>
              </a:ext>
            </a:extLst>
          </p:cNvPr>
          <p:cNvSpPr>
            <a:spLocks noGrp="1"/>
          </p:cNvSpPr>
          <p:nvPr>
            <p:ph idx="1"/>
          </p:nvPr>
        </p:nvSpPr>
        <p:spPr/>
        <p:txBody>
          <a:bodyPr>
            <a:normAutofit fontScale="25000" lnSpcReduction="20000"/>
          </a:bodyPr>
          <a:lstStyle/>
          <a:p>
            <a:r>
              <a:rPr lang="en-US" sz="6400" b="1" dirty="0"/>
              <a:t>4.1 Student Performance Tracking</a:t>
            </a:r>
          </a:p>
          <a:p>
            <a:r>
              <a:rPr lang="en-US" sz="6400" dirty="0"/>
              <a:t>The system captures students' academic records, attendance, and participation to generate comprehensive performance reports.</a:t>
            </a:r>
          </a:p>
          <a:p>
            <a:r>
              <a:rPr lang="en-US" sz="6400" b="1" dirty="0"/>
              <a:t>4.2 Predictive Analytics and AI-Based Insights</a:t>
            </a:r>
          </a:p>
          <a:p>
            <a:r>
              <a:rPr lang="en-US" sz="6400" dirty="0"/>
              <a:t>Using machine learning algorithms, the system predicts students' future performance based on historical data, enabling early intervention for struggling students.</a:t>
            </a:r>
          </a:p>
          <a:p>
            <a:r>
              <a:rPr lang="en-US" sz="6400" b="1" dirty="0"/>
              <a:t>4.3 Personalized Learning Recommendations</a:t>
            </a:r>
          </a:p>
          <a:p>
            <a:r>
              <a:rPr lang="en-US" sz="6400" dirty="0"/>
              <a:t>AI-driven recommendations suggest study materials, assignments, and remedial courses tailored to each student’s needs.</a:t>
            </a:r>
          </a:p>
          <a:p>
            <a:r>
              <a:rPr lang="en-US" sz="6400" b="1" dirty="0"/>
              <a:t>4.4 Automated Assessment and Feedback</a:t>
            </a:r>
          </a:p>
          <a:p>
            <a:r>
              <a:rPr lang="en-US" sz="6400" dirty="0"/>
              <a:t>Automated grading mechanisms analyze test results, providing instant feedback and identifying key areas for improvement.</a:t>
            </a:r>
          </a:p>
          <a:p>
            <a:r>
              <a:rPr lang="en-US" sz="6400" b="1" dirty="0"/>
              <a:t>4.5 Attendance and Behavioral Monitoring</a:t>
            </a:r>
          </a:p>
          <a:p>
            <a:r>
              <a:rPr lang="en-US" sz="6400" dirty="0"/>
              <a:t>Facial recognition and RFID-based attendance tracking ensure accurate monitoring of student engagement and classroom participation.</a:t>
            </a:r>
          </a:p>
          <a:p>
            <a:r>
              <a:rPr lang="en-US" sz="6400" b="1" dirty="0"/>
              <a:t>4.6 Interactive Dashboards for Stakeholders</a:t>
            </a:r>
          </a:p>
          <a:p>
            <a:r>
              <a:rPr lang="en-US" sz="6400" dirty="0"/>
              <a:t>Teachers, students, and parents have access to intuitive dashboards that display performance metrics, learning progress, and actionable insights.</a:t>
            </a:r>
          </a:p>
          <a:p>
            <a:endParaRPr lang="en-IN" dirty="0"/>
          </a:p>
        </p:txBody>
      </p:sp>
    </p:spTree>
    <p:extLst>
      <p:ext uri="{BB962C8B-B14F-4D97-AF65-F5344CB8AC3E}">
        <p14:creationId xmlns:p14="http://schemas.microsoft.com/office/powerpoint/2010/main" val="471992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0AE8A-37EB-24CC-F8D1-05BF05918C12}"/>
              </a:ext>
            </a:extLst>
          </p:cNvPr>
          <p:cNvSpPr>
            <a:spLocks noGrp="1"/>
          </p:cNvSpPr>
          <p:nvPr>
            <p:ph type="title"/>
          </p:nvPr>
        </p:nvSpPr>
        <p:spPr/>
        <p:txBody>
          <a:bodyPr>
            <a:normAutofit/>
          </a:bodyPr>
          <a:lstStyle/>
          <a:p>
            <a:r>
              <a:rPr lang="en-US" sz="4000" b="1" u="sng" dirty="0"/>
              <a:t>5.Technological Framework</a:t>
            </a:r>
            <a:endParaRPr lang="en-IN" sz="4000" b="1" u="sng" dirty="0"/>
          </a:p>
        </p:txBody>
      </p:sp>
      <p:sp>
        <p:nvSpPr>
          <p:cNvPr id="3" name="Content Placeholder 2">
            <a:extLst>
              <a:ext uri="{FF2B5EF4-FFF2-40B4-BE49-F238E27FC236}">
                <a16:creationId xmlns:a16="http://schemas.microsoft.com/office/drawing/2014/main" id="{1DD1F460-AC7F-ACFB-DAB6-3C056A9214C6}"/>
              </a:ext>
            </a:extLst>
          </p:cNvPr>
          <p:cNvSpPr>
            <a:spLocks noGrp="1"/>
          </p:cNvSpPr>
          <p:nvPr>
            <p:ph idx="1"/>
          </p:nvPr>
        </p:nvSpPr>
        <p:spPr/>
        <p:txBody>
          <a:bodyPr>
            <a:normAutofit fontScale="70000" lnSpcReduction="20000"/>
          </a:bodyPr>
          <a:lstStyle/>
          <a:p>
            <a:pPr marL="0" indent="0">
              <a:buNone/>
            </a:pPr>
            <a:endParaRPr lang="en-IN" dirty="0"/>
          </a:p>
          <a:p>
            <a:r>
              <a:rPr lang="en-IN" b="1" dirty="0"/>
              <a:t>5.1 Data Collection &amp; Storage</a:t>
            </a:r>
          </a:p>
          <a:p>
            <a:pPr>
              <a:buFont typeface="Arial" panose="020B0604020202020204" pitchFamily="34" charset="0"/>
              <a:buChar char="•"/>
            </a:pPr>
            <a:r>
              <a:rPr lang="en-IN" b="1" dirty="0"/>
              <a:t>Database Management</a:t>
            </a:r>
            <a:r>
              <a:rPr lang="en-IN" dirty="0"/>
              <a:t>: Cloud-based relational and NoSQL databases.</a:t>
            </a:r>
          </a:p>
          <a:p>
            <a:pPr>
              <a:buFont typeface="Arial" panose="020B0604020202020204" pitchFamily="34" charset="0"/>
              <a:buChar char="•"/>
            </a:pPr>
            <a:r>
              <a:rPr lang="en-IN" b="1" dirty="0"/>
              <a:t>Data Sources</a:t>
            </a:r>
            <a:r>
              <a:rPr lang="en-IN" dirty="0"/>
              <a:t>: Student attendance records, grades, assignments, and engagement metrics.</a:t>
            </a:r>
          </a:p>
          <a:p>
            <a:r>
              <a:rPr lang="en-IN" b="1" dirty="0"/>
              <a:t>5.2 Machine Learning &amp; Analytics</a:t>
            </a:r>
          </a:p>
          <a:p>
            <a:pPr>
              <a:buFont typeface="Arial" panose="020B0604020202020204" pitchFamily="34" charset="0"/>
              <a:buChar char="•"/>
            </a:pPr>
            <a:r>
              <a:rPr lang="en-IN" b="1" dirty="0"/>
              <a:t>Algorithms Used</a:t>
            </a:r>
            <a:r>
              <a:rPr lang="en-IN" dirty="0"/>
              <a:t>: Decision Trees, Neural Networks, Regression Analysis.</a:t>
            </a:r>
          </a:p>
          <a:p>
            <a:pPr>
              <a:buFont typeface="Arial" panose="020B0604020202020204" pitchFamily="34" charset="0"/>
              <a:buChar char="•"/>
            </a:pPr>
            <a:r>
              <a:rPr lang="en-IN" b="1" dirty="0"/>
              <a:t>Data Processing</a:t>
            </a:r>
            <a:r>
              <a:rPr lang="en-IN" dirty="0"/>
              <a:t>: Python-based data pipelines for feature extraction and model training.</a:t>
            </a:r>
          </a:p>
          <a:p>
            <a:pPr>
              <a:buFont typeface="Arial" panose="020B0604020202020204" pitchFamily="34" charset="0"/>
              <a:buChar char="•"/>
            </a:pPr>
            <a:r>
              <a:rPr lang="en-IN" b="1" dirty="0"/>
              <a:t>Visualization Tools</a:t>
            </a:r>
            <a:r>
              <a:rPr lang="en-IN" dirty="0"/>
              <a:t>: </a:t>
            </a:r>
            <a:r>
              <a:rPr lang="en-IN" dirty="0" err="1"/>
              <a:t>Streamlit</a:t>
            </a:r>
            <a:r>
              <a:rPr lang="en-IN" dirty="0"/>
              <a:t> and Power BI for real-time data representation.</a:t>
            </a:r>
          </a:p>
          <a:p>
            <a:r>
              <a:rPr lang="en-IN" b="1" dirty="0"/>
              <a:t>5.3 Web &amp; Mobile Integration</a:t>
            </a:r>
          </a:p>
          <a:p>
            <a:pPr>
              <a:buFont typeface="Arial" panose="020B0604020202020204" pitchFamily="34" charset="0"/>
              <a:buChar char="•"/>
            </a:pPr>
            <a:r>
              <a:rPr lang="en-IN" b="1" dirty="0"/>
              <a:t>Frontend</a:t>
            </a:r>
            <a:r>
              <a:rPr lang="en-IN" dirty="0"/>
              <a:t>: React.js, HTML, CSS.</a:t>
            </a:r>
          </a:p>
          <a:p>
            <a:pPr>
              <a:buFont typeface="Arial" panose="020B0604020202020204" pitchFamily="34" charset="0"/>
              <a:buChar char="•"/>
            </a:pPr>
            <a:r>
              <a:rPr lang="en-IN" b="1" dirty="0"/>
              <a:t>Backend</a:t>
            </a:r>
            <a:r>
              <a:rPr lang="en-IN" dirty="0"/>
              <a:t>: Django/Flask.</a:t>
            </a:r>
          </a:p>
          <a:p>
            <a:pPr>
              <a:buFont typeface="Arial" panose="020B0604020202020204" pitchFamily="34" charset="0"/>
              <a:buChar char="•"/>
            </a:pPr>
            <a:r>
              <a:rPr lang="en-IN" b="1" dirty="0"/>
              <a:t>Mobile Compatibility</a:t>
            </a:r>
            <a:r>
              <a:rPr lang="en-IN" dirty="0"/>
              <a:t>: Responsive design for iOS and Android platforms.</a:t>
            </a:r>
          </a:p>
          <a:p>
            <a:endParaRPr lang="en-IN" dirty="0"/>
          </a:p>
        </p:txBody>
      </p:sp>
    </p:spTree>
    <p:extLst>
      <p:ext uri="{BB962C8B-B14F-4D97-AF65-F5344CB8AC3E}">
        <p14:creationId xmlns:p14="http://schemas.microsoft.com/office/powerpoint/2010/main" val="1675633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CCF55-B27E-C34E-E1C7-3D9898B58ABD}"/>
              </a:ext>
            </a:extLst>
          </p:cNvPr>
          <p:cNvSpPr>
            <a:spLocks noGrp="1"/>
          </p:cNvSpPr>
          <p:nvPr>
            <p:ph type="title"/>
          </p:nvPr>
        </p:nvSpPr>
        <p:spPr/>
        <p:txBody>
          <a:bodyPr>
            <a:normAutofit/>
          </a:bodyPr>
          <a:lstStyle/>
          <a:p>
            <a:r>
              <a:rPr lang="en-US" sz="4000" b="1" u="sng" dirty="0"/>
              <a:t>Benefits of SSPMS</a:t>
            </a:r>
            <a:endParaRPr lang="en-IN" sz="4000" b="1" u="sng" dirty="0"/>
          </a:p>
        </p:txBody>
      </p:sp>
      <p:sp>
        <p:nvSpPr>
          <p:cNvPr id="3" name="Content Placeholder 2">
            <a:extLst>
              <a:ext uri="{FF2B5EF4-FFF2-40B4-BE49-F238E27FC236}">
                <a16:creationId xmlns:a16="http://schemas.microsoft.com/office/drawing/2014/main" id="{2F9F3AB2-C604-3C81-BB30-B96CF9FDA111}"/>
              </a:ext>
            </a:extLst>
          </p:cNvPr>
          <p:cNvSpPr>
            <a:spLocks noGrp="1"/>
          </p:cNvSpPr>
          <p:nvPr>
            <p:ph idx="1"/>
          </p:nvPr>
        </p:nvSpPr>
        <p:spPr/>
        <p:txBody>
          <a:bodyPr>
            <a:normAutofit/>
          </a:bodyPr>
          <a:lstStyle/>
          <a:p>
            <a:pPr>
              <a:buFont typeface="Arial" panose="020B0604020202020204" pitchFamily="34" charset="0"/>
              <a:buChar char="•"/>
            </a:pPr>
            <a:r>
              <a:rPr lang="en-US" sz="2000" b="1" dirty="0"/>
              <a:t>Enhanced Student Engagement</a:t>
            </a:r>
            <a:r>
              <a:rPr lang="en-US" sz="2000" dirty="0"/>
              <a:t>: AI-powered insights help students focus on areas needing improvement.</a:t>
            </a:r>
          </a:p>
          <a:p>
            <a:pPr>
              <a:buFont typeface="Arial" panose="020B0604020202020204" pitchFamily="34" charset="0"/>
              <a:buChar char="•"/>
            </a:pPr>
            <a:r>
              <a:rPr lang="en-US" sz="2000" b="1" dirty="0"/>
              <a:t>Data-Driven Decision Making</a:t>
            </a:r>
            <a:r>
              <a:rPr lang="en-US" sz="2000" dirty="0"/>
              <a:t>: Provides teachers and administrators with actionable insights for curriculum enhancement.</a:t>
            </a:r>
          </a:p>
          <a:p>
            <a:pPr>
              <a:buFont typeface="Arial" panose="020B0604020202020204" pitchFamily="34" charset="0"/>
              <a:buChar char="•"/>
            </a:pPr>
            <a:r>
              <a:rPr lang="en-US" sz="2000" b="1" dirty="0"/>
              <a:t>Early Identification of Learning Gaps</a:t>
            </a:r>
            <a:r>
              <a:rPr lang="en-US" sz="2000" dirty="0"/>
              <a:t>: Ensures timely intervention for underperforming students.</a:t>
            </a:r>
          </a:p>
          <a:p>
            <a:pPr>
              <a:buFont typeface="Arial" panose="020B0604020202020204" pitchFamily="34" charset="0"/>
              <a:buChar char="•"/>
            </a:pPr>
            <a:r>
              <a:rPr lang="en-US" sz="2000" b="1" dirty="0"/>
              <a:t>Transparency &amp; Parental Involvement</a:t>
            </a:r>
            <a:r>
              <a:rPr lang="en-US" sz="2000" dirty="0"/>
              <a:t>: Parents can monitor their child’s progress through real-time dashboards.</a:t>
            </a:r>
          </a:p>
          <a:p>
            <a:pPr>
              <a:buFont typeface="Arial" panose="020B0604020202020204" pitchFamily="34" charset="0"/>
              <a:buChar char="•"/>
            </a:pPr>
            <a:r>
              <a:rPr lang="en-US" sz="2000" b="1" dirty="0"/>
              <a:t>Efficiency &amp; Automation</a:t>
            </a:r>
            <a:r>
              <a:rPr lang="en-US" sz="2000" dirty="0"/>
              <a:t>: Reduces manual work for educators, allowing them to focus on teaching rather than administrative tasks.</a:t>
            </a:r>
          </a:p>
          <a:p>
            <a:endParaRPr lang="en-IN" dirty="0"/>
          </a:p>
        </p:txBody>
      </p:sp>
    </p:spTree>
    <p:extLst>
      <p:ext uri="{BB962C8B-B14F-4D97-AF65-F5344CB8AC3E}">
        <p14:creationId xmlns:p14="http://schemas.microsoft.com/office/powerpoint/2010/main" val="1353705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17137-AB70-CA4A-6A05-D005FAE44186}"/>
              </a:ext>
            </a:extLst>
          </p:cNvPr>
          <p:cNvSpPr>
            <a:spLocks noGrp="1"/>
          </p:cNvSpPr>
          <p:nvPr>
            <p:ph type="title"/>
          </p:nvPr>
        </p:nvSpPr>
        <p:spPr/>
        <p:txBody>
          <a:bodyPr>
            <a:normAutofit/>
          </a:bodyPr>
          <a:lstStyle/>
          <a:p>
            <a:r>
              <a:rPr lang="en-US" sz="4000" b="1" u="sng" dirty="0"/>
              <a:t>Challenges and Future Enhancements of SSPMS</a:t>
            </a:r>
            <a:endParaRPr lang="en-IN" sz="4000" b="1" u="sng" dirty="0"/>
          </a:p>
        </p:txBody>
      </p:sp>
      <p:sp>
        <p:nvSpPr>
          <p:cNvPr id="3" name="Content Placeholder 2">
            <a:extLst>
              <a:ext uri="{FF2B5EF4-FFF2-40B4-BE49-F238E27FC236}">
                <a16:creationId xmlns:a16="http://schemas.microsoft.com/office/drawing/2014/main" id="{A1F54A72-3D4A-28A8-CB48-84E12CA4757D}"/>
              </a:ext>
            </a:extLst>
          </p:cNvPr>
          <p:cNvSpPr>
            <a:spLocks noGrp="1"/>
          </p:cNvSpPr>
          <p:nvPr>
            <p:ph idx="1"/>
          </p:nvPr>
        </p:nvSpPr>
        <p:spPr/>
        <p:txBody>
          <a:bodyPr/>
          <a:lstStyle/>
          <a:p>
            <a:pPr marL="0" indent="0">
              <a:buNone/>
            </a:pPr>
            <a:r>
              <a:rPr lang="en-US" sz="2000" b="1" dirty="0"/>
              <a:t>Challenges:-</a:t>
            </a:r>
          </a:p>
          <a:p>
            <a:pPr>
              <a:buFont typeface="Arial" panose="020B0604020202020204" pitchFamily="34" charset="0"/>
              <a:buChar char="•"/>
            </a:pPr>
            <a:r>
              <a:rPr lang="en-US" sz="2000" b="1" dirty="0"/>
              <a:t>Data Privacy &amp; Security</a:t>
            </a:r>
            <a:r>
              <a:rPr lang="en-US" sz="2000" dirty="0"/>
              <a:t>: Ensuring compliance with GDPR and other educational data regulations.</a:t>
            </a:r>
          </a:p>
          <a:p>
            <a:pPr>
              <a:buFont typeface="Arial" panose="020B0604020202020204" pitchFamily="34" charset="0"/>
              <a:buChar char="•"/>
            </a:pPr>
            <a:r>
              <a:rPr lang="en-US" sz="2000" b="1" dirty="0"/>
              <a:t>Adoption Resistance</a:t>
            </a:r>
            <a:r>
              <a:rPr lang="en-US" sz="2000" dirty="0"/>
              <a:t>: Training educators to use AI-driven insights effectively.</a:t>
            </a:r>
          </a:p>
          <a:p>
            <a:pPr>
              <a:buFont typeface="Arial" panose="020B0604020202020204" pitchFamily="34" charset="0"/>
              <a:buChar char="•"/>
            </a:pPr>
            <a:r>
              <a:rPr lang="en-US" sz="2000" b="1" dirty="0"/>
              <a:t>Infrastructure Requirements</a:t>
            </a:r>
            <a:r>
              <a:rPr lang="en-US" sz="2000" dirty="0"/>
              <a:t>: Schools may require hardware upgrades for seamless implementation.</a:t>
            </a:r>
          </a:p>
          <a:p>
            <a:pPr marL="0" indent="0">
              <a:buNone/>
            </a:pPr>
            <a:r>
              <a:rPr lang="en-IN" sz="2000" b="1" dirty="0"/>
              <a:t>Future Enhancements</a:t>
            </a:r>
          </a:p>
          <a:p>
            <a:pPr>
              <a:buFont typeface="Arial" panose="020B0604020202020204" pitchFamily="34" charset="0"/>
              <a:buChar char="•"/>
            </a:pPr>
            <a:r>
              <a:rPr lang="en-IN" sz="2000" b="1" dirty="0"/>
              <a:t>Adaptive Learning Modules</a:t>
            </a:r>
            <a:r>
              <a:rPr lang="en-IN" sz="2000" dirty="0"/>
              <a:t>: AI-driven personalized study plans.</a:t>
            </a:r>
          </a:p>
          <a:p>
            <a:pPr>
              <a:buFont typeface="Arial" panose="020B0604020202020204" pitchFamily="34" charset="0"/>
              <a:buChar char="•"/>
            </a:pPr>
            <a:r>
              <a:rPr lang="en-IN" sz="2000" b="1" dirty="0"/>
              <a:t>Gamification Elements</a:t>
            </a:r>
            <a:r>
              <a:rPr lang="en-IN" sz="2000" dirty="0"/>
              <a:t>: Engaging learning through game-based education strategies.</a:t>
            </a:r>
          </a:p>
          <a:p>
            <a:pPr>
              <a:buFont typeface="Arial" panose="020B0604020202020204" pitchFamily="34" charset="0"/>
              <a:buChar char="•"/>
            </a:pPr>
            <a:r>
              <a:rPr lang="en-IN" sz="2000" b="1" dirty="0"/>
              <a:t>Integration with Learning Management Systems (LMS)</a:t>
            </a:r>
            <a:r>
              <a:rPr lang="en-IN" sz="2000" dirty="0"/>
              <a:t>: Seamless synchronization with Moodle, Blackboard, and other platforms.</a:t>
            </a:r>
          </a:p>
          <a:p>
            <a:pPr>
              <a:buFont typeface="Arial" panose="020B0604020202020204" pitchFamily="34" charset="0"/>
              <a:buChar char="•"/>
            </a:pPr>
            <a:r>
              <a:rPr lang="en-IN" sz="2000" b="1" dirty="0"/>
              <a:t>Multilingual Support</a:t>
            </a:r>
            <a:r>
              <a:rPr lang="en-IN" sz="2000" dirty="0"/>
              <a:t>: AI-driven translation for diverse student populations.</a:t>
            </a:r>
          </a:p>
          <a:p>
            <a:pPr>
              <a:buFont typeface="Arial" panose="020B0604020202020204" pitchFamily="34" charset="0"/>
              <a:buChar char="•"/>
            </a:pPr>
            <a:endParaRPr lang="en-US" sz="2000" dirty="0"/>
          </a:p>
        </p:txBody>
      </p:sp>
    </p:spTree>
    <p:extLst>
      <p:ext uri="{BB962C8B-B14F-4D97-AF65-F5344CB8AC3E}">
        <p14:creationId xmlns:p14="http://schemas.microsoft.com/office/powerpoint/2010/main" val="3970956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6E6F6-54A1-1BB2-A0C9-BFBF646A8158}"/>
              </a:ext>
            </a:extLst>
          </p:cNvPr>
          <p:cNvSpPr>
            <a:spLocks noGrp="1"/>
          </p:cNvSpPr>
          <p:nvPr>
            <p:ph type="title"/>
          </p:nvPr>
        </p:nvSpPr>
        <p:spPr/>
        <p:txBody>
          <a:bodyPr>
            <a:normAutofit/>
          </a:bodyPr>
          <a:lstStyle/>
          <a:p>
            <a:r>
              <a:rPr lang="en-US" sz="4000" b="1" u="sng" dirty="0"/>
              <a:t>Conclusion</a:t>
            </a:r>
            <a:endParaRPr lang="en-IN" sz="4000" b="1" u="sng" dirty="0"/>
          </a:p>
        </p:txBody>
      </p:sp>
      <p:sp>
        <p:nvSpPr>
          <p:cNvPr id="3" name="Content Placeholder 2">
            <a:extLst>
              <a:ext uri="{FF2B5EF4-FFF2-40B4-BE49-F238E27FC236}">
                <a16:creationId xmlns:a16="http://schemas.microsoft.com/office/drawing/2014/main" id="{B8151AAA-B2E2-A693-EB06-A62FABCF8337}"/>
              </a:ext>
            </a:extLst>
          </p:cNvPr>
          <p:cNvSpPr>
            <a:spLocks noGrp="1"/>
          </p:cNvSpPr>
          <p:nvPr>
            <p:ph idx="1"/>
          </p:nvPr>
        </p:nvSpPr>
        <p:spPr/>
        <p:txBody>
          <a:bodyPr/>
          <a:lstStyle/>
          <a:p>
            <a:r>
              <a:rPr lang="en-US" sz="2400" dirty="0"/>
              <a:t>The Smart Student Performance Management System (SSPMS) is a transformative solution for modern education, leveraging AI and data analytics to foster an adaptive and efficient learning environment. By addressing students' individual learning needs and automating administrative processes, the system empowers educators and students to achieve academic excellence through smart, data-driven strategies.</a:t>
            </a:r>
          </a:p>
          <a:p>
            <a:endParaRPr lang="en-IN" dirty="0"/>
          </a:p>
        </p:txBody>
      </p:sp>
    </p:spTree>
    <p:extLst>
      <p:ext uri="{BB962C8B-B14F-4D97-AF65-F5344CB8AC3E}">
        <p14:creationId xmlns:p14="http://schemas.microsoft.com/office/powerpoint/2010/main" val="1985186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863</Words>
  <Application>Microsoft Office PowerPoint</Application>
  <PresentationFormat>Widescreen</PresentationFormat>
  <Paragraphs>67</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PowerPoint Presentation</vt:lpstr>
      <vt:lpstr>1.Introduction</vt:lpstr>
      <vt:lpstr>2.Problem Statement and Proposed Solution</vt:lpstr>
      <vt:lpstr>3.Objectives</vt:lpstr>
      <vt:lpstr>4.System Features</vt:lpstr>
      <vt:lpstr>5.Technological Framework</vt:lpstr>
      <vt:lpstr>Benefits of SSPMS</vt:lpstr>
      <vt:lpstr>Challenges and Future Enhancements of SSPMS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Meenu Dua</dc:creator>
  <cp:lastModifiedBy>Meenu Dua</cp:lastModifiedBy>
  <cp:revision>1</cp:revision>
  <dcterms:created xsi:type="dcterms:W3CDTF">2025-01-29T19:20:05Z</dcterms:created>
  <dcterms:modified xsi:type="dcterms:W3CDTF">2025-01-29T20:29:37Z</dcterms:modified>
</cp:coreProperties>
</file>